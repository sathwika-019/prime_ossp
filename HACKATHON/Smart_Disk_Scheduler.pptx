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AD02622-10F7-BEE4-3762-654430D24BB8}">
          <p14:sldIdLst>
            <p14:sldId id="256"/>
          </p14:sldIdLst>
        </p14:section>
        <p14:section name="Problem" id="{3BC14686-F7C9-BB4D-E0CF-6A9B297991B4}">
          <p14:sldIdLst>
            <p14:sldId id="257"/>
            <p14:sldId id="258"/>
          </p14:sldIdLst>
        </p14:section>
        <p14:section name="Background" id="{A750C012-DAED-3FB8-508E-2CEAEA0925C4}">
          <p14:sldIdLst>
            <p14:sldId id="259"/>
            <p14:sldId id="260"/>
            <p14:sldId id="261"/>
          </p14:sldIdLst>
        </p14:section>
        <p14:section name="Design" id="{C75B5708-3E8E-CBB8-DF6D-E0A86A7AD8FC}">
          <p14:sldIdLst>
            <p14:sldId id="262"/>
            <p14:sldId id="263"/>
            <p14:sldId id="264"/>
          </p14:sldIdLst>
        </p14:section>
        <p14:section name="Results" id="{FED31F40-70B7-03B5-347B-9E23FC5937E5}">
          <p14:sldIdLst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B1B2B"/>
                </a:solidFill>
                <a:latin typeface="+mn-lt"/>
              </a:rPr>
              <a:t>Total head movement (cylinders)</a:t>
            </a:r>
            <a:endParaRPr sz="1600" b="0" i="0" u="none" strike="noStrike">
              <a:solidFill>
                <a:srgbClr val="0B1B2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 movement</c:v>
                </c:pt>
              </c:strCache>
            </c:strRef>
          </c:tx>
          <c:spPr>
            <a:solidFill>
              <a:srgbClr val="98A6B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8A6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0" i="0" u="none" strike="noStrike" kern="1200" baseline="0">
                    <a:solidFill>
                      <a:srgbClr val="0B1B2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FCFS</c:v>
                </c:pt>
                <c:pt idx="1">
                  <c:v>SSTF</c:v>
                </c:pt>
                <c:pt idx="2">
                  <c:v>SCAN</c:v>
                </c:pt>
                <c:pt idx="3">
                  <c:v>C-SCAN</c:v>
                </c:pt>
                <c:pt idx="4">
                  <c:v>LOOK</c:v>
                </c:pt>
                <c:pt idx="5">
                  <c:v>C-LOOK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236</c:v>
                </c:pt>
                <c:pt idx="2">
                  <c:v>236</c:v>
                </c:pt>
                <c:pt idx="3">
                  <c:v>382</c:v>
                </c:pt>
                <c:pt idx="4">
                  <c:v>208</c:v>
                </c:pt>
                <c:pt idx="5">
                  <c:v>322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0"/>
        </c:scaling>
        <c:delete val="0"/>
        <c:axPos val="l"/>
        <c:majorGridlines>
          <c:spPr>
            <a:ln w="6350" cap="flat" cmpd="sng" algn="ctr">
              <a:solidFill>
                <a:srgbClr val="DD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8A6B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72f680a-7c90-4c4a-a7f6-57d6ba5f8fd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B1B2B"/>
                </a:solidFill>
                <a:latin typeface="+mn-lt"/>
              </a:rPr>
              <a:t>Average seek per request (cylinders)</a:t>
            </a:r>
            <a:endParaRPr sz="1600" b="0" i="0" u="none" strike="noStrike">
              <a:solidFill>
                <a:srgbClr val="0B1B2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Seek</c:v>
                </c:pt>
              </c:strCache>
            </c:strRef>
          </c:tx>
          <c:spPr>
            <a:solidFill>
              <a:srgbClr val="98A6B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8A6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0" i="0" u="none" strike="noStrike" kern="1200" baseline="0">
                    <a:solidFill>
                      <a:srgbClr val="0B1B2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FCFS</c:v>
                </c:pt>
                <c:pt idx="1">
                  <c:v>SSTF</c:v>
                </c:pt>
                <c:pt idx="2">
                  <c:v>LOOK</c:v>
                </c:pt>
                <c:pt idx="3">
                  <c:v>C-LOOK</c:v>
                </c:pt>
                <c:pt idx="4">
                  <c:v>Smart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431</c:v>
                </c:pt>
                <c:pt idx="1">
                  <c:v>240</c:v>
                </c:pt>
                <c:pt idx="2">
                  <c:v>238</c:v>
                </c:pt>
                <c:pt idx="3">
                  <c:v>245</c:v>
                </c:pt>
                <c:pt idx="4">
                  <c:v>242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0"/>
        <c:axPos val="l"/>
        <c:majorGridlines>
          <c:spPr>
            <a:ln w="6350" cap="flat" cmpd="sng" algn="ctr">
              <a:solidFill>
                <a:srgbClr val="DD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8A6B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c2be581-4b70-412c-bdae-c7bda89589fe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B1B2B"/>
                </a:solidFill>
                <a:latin typeface="+mn-lt"/>
              </a:rPr>
              <a:t>Worst-case wait (time units)</a:t>
            </a:r>
            <a:endParaRPr sz="1600" b="0" i="0" u="none" strike="noStrike">
              <a:solidFill>
                <a:srgbClr val="0B1B2B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wait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0" i="0" u="none" strike="noStrike" kern="1200" baseline="0">
                    <a:solidFill>
                      <a:srgbClr val="0B1B2B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SSTF</c:v>
                </c:pt>
                <c:pt idx="1">
                  <c:v>C-LOOK</c:v>
                </c:pt>
                <c:pt idx="2">
                  <c:v>LOOK</c:v>
                </c:pt>
                <c:pt idx="3">
                  <c:v>Smart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644</c:v>
                </c:pt>
                <c:pt idx="1">
                  <c:v>334</c:v>
                </c:pt>
                <c:pt idx="2">
                  <c:v>261</c:v>
                </c:pt>
                <c:pt idx="3">
                  <c:v>367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0B1B2B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"/>
        </c:scaling>
        <c:delete val="0"/>
        <c:axPos val="l"/>
        <c:majorGridlines>
          <c:spPr>
            <a:ln w="6350" cap="flat" cmpd="sng" algn="ctr">
              <a:solidFill>
                <a:srgbClr val="DD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8A6B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c36f4e1-5395-4c77-948a-7f32834e4b5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with many pending requests, the order in which the disk serves them decides how far the head travels.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Mechanical movement is the bottleneck; the scheduler is the lever the OS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Seek is the dominant, schedulable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row; note each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textbook queue; LOOK is best of the classics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classic algorithm balances throughput, fairness and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flow left to right; the load monitor closes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term, then the deadline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decision is cheap; the monitor retunes parameters between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read: LOOK still has the lowest tail here; Smart trades some of it for tunable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scoring is O(n); a candidate window keeps it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takeaways, then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200" b="1" dirty="0">
                <a:solidFill>
                  <a:schemeClr val="bg1"/>
                </a:solidFill>
              </a:rPr>
              <a:t>Smart Disk Scheduler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37947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Dynamically selecting pending I/O requests to minimize disk head movement and seek time</a:t>
            </a:r>
            <a:endParaRPr lang="en-US" sz="2000" dirty="0"/>
          </a:p>
        </p:txBody>
      </p:sp>
      <p:sp>
        <p:nvSpPr>
          <p:cNvPr id="4" name="Platter ring 1"/>
          <p:cNvSpPr/>
          <p:nvPr/>
        </p:nvSpPr>
        <p:spPr>
          <a:xfrm>
            <a:off x="6492240" y="777240"/>
            <a:ext cx="5303520" cy="5303520"/>
          </a:xfrm>
          <a:prstGeom prst="ellipse">
            <a:avLst/>
          </a:prstGeom>
          <a:solidFill>
            <a:srgbClr val="12344D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Platter ring 2"/>
          <p:cNvSpPr/>
          <p:nvPr/>
        </p:nvSpPr>
        <p:spPr>
          <a:xfrm>
            <a:off x="7040880" y="1325880"/>
            <a:ext cx="4206240" cy="4206240"/>
          </a:xfrm>
          <a:prstGeom prst="ellipse">
            <a:avLst/>
          </a:prstGeom>
          <a:solidFill>
            <a:srgbClr val="0E4F66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Platter ring 3"/>
          <p:cNvSpPr/>
          <p:nvPr/>
        </p:nvSpPr>
        <p:spPr>
          <a:xfrm>
            <a:off x="7589520" y="1874520"/>
            <a:ext cx="3108960" cy="3108960"/>
          </a:xfrm>
          <a:prstGeom prst="ellipse">
            <a:avLst/>
          </a:prstGeom>
          <a:solidFill>
            <a:srgbClr val="12344D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Platter ring 4"/>
          <p:cNvSpPr/>
          <p:nvPr/>
        </p:nvSpPr>
        <p:spPr>
          <a:xfrm>
            <a:off x="8138160" y="2423160"/>
            <a:ext cx="2011680" cy="2011680"/>
          </a:xfrm>
          <a:prstGeom prst="ellipse">
            <a:avLst/>
          </a:prstGeom>
          <a:solidFill>
            <a:srgbClr val="0E4F66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Platter hub"/>
          <p:cNvSpPr/>
          <p:nvPr/>
        </p:nvSpPr>
        <p:spPr>
          <a:xfrm>
            <a:off x="8823960" y="3108960"/>
            <a:ext cx="640080" cy="6400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Actuator arm"/>
          <p:cNvSpPr/>
          <p:nvPr/>
        </p:nvSpPr>
        <p:spPr>
          <a:xfrm>
            <a:off x="6492240" y="1508760"/>
            <a:ext cx="2651760" cy="1920240"/>
          </a:xfrm>
          <a:prstGeom prst="line">
            <a:avLst/>
          </a:prstGeom>
          <a:noFill/>
          <a:ln w="50800">
            <a:solidFill>
              <a:srgbClr val="F5A524"/>
            </a:solidFill>
            <a:prstDash val="solid"/>
          </a:ln>
        </p:spPr>
      </p:sp>
      <p:sp>
        <p:nvSpPr>
          <p:cNvPr id="10" name="Text Box 9"/>
          <p:cNvSpPr txBox="1"/>
          <p:nvPr/>
        </p:nvSpPr>
        <p:spPr>
          <a:xfrm>
            <a:off x="633095" y="5060315"/>
            <a:ext cx="4206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solidFill>
                  <a:schemeClr val="bg1"/>
                </a:solidFill>
              </a:rPr>
              <a:t>252003007_Sathwika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2520030511-Akhila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2520030340_Sri kruthi</a:t>
            </a:r>
            <a:endParaRPr lang="en-IN" altLang="en-US">
              <a:solidFill>
                <a:schemeClr val="bg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</a:rPr>
              <a:t>2520030117_Vaishali</a:t>
            </a:r>
            <a:endParaRPr lang="en-I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disk scheduling matters</a:t>
            </a:r>
            <a:endParaRPr lang="en-US" sz="3400" dirty="0"/>
          </a:p>
        </p:txBody>
      </p:sp>
      <p:sp>
        <p:nvSpPr>
          <p:cNvPr id="4" name="Stat card 1"/>
          <p:cNvSpPr/>
          <p:nvPr/>
        </p:nvSpPr>
        <p:spPr>
          <a:xfrm>
            <a:off x="54864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9202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Milliseconds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3464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Mechanical seek time for one request</a:t>
            </a:r>
            <a:endParaRPr lang="en-US" sz="1800" dirty="0"/>
          </a:p>
        </p:txBody>
      </p:sp>
      <p:sp>
        <p:nvSpPr>
          <p:cNvPr id="7" name="Stat card 2"/>
          <p:cNvSpPr/>
          <p:nvPr/>
        </p:nvSpPr>
        <p:spPr>
          <a:xfrm>
            <a:off x="434340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9202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E9AA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Nanoseconds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83464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CPU work in that same window</a:t>
            </a:r>
            <a:endParaRPr lang="en-US" sz="1800" dirty="0"/>
          </a:p>
        </p:txBody>
      </p:sp>
      <p:sp>
        <p:nvSpPr>
          <p:cNvPr id="10" name="Stat card 3"/>
          <p:cNvSpPr/>
          <p:nvPr/>
        </p:nvSpPr>
        <p:spPr>
          <a:xfrm>
            <a:off x="8138160" y="155448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92024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D5A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Many at once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83464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Processes queue requests together; order decides total head travel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Request order, not raw disk speed, decides how much of that time is wasted.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disk access time goes</a:t>
            </a:r>
            <a:endParaRPr lang="en-US" sz="3400" dirty="0"/>
          </a:p>
        </p:txBody>
      </p:sp>
      <p:sp>
        <p:nvSpPr>
          <p:cNvPr id="4" name="Cost box Seek"/>
          <p:cNvSpPr/>
          <p:nvPr/>
        </p:nvSpPr>
        <p:spPr>
          <a:xfrm>
            <a:off x="548640" y="1645920"/>
            <a:ext cx="320040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8745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Seek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5146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Move the arm to the target cylinder</a:t>
            </a:r>
            <a:endParaRPr lang="en-US" sz="1600" dirty="0"/>
          </a:p>
        </p:txBody>
      </p:sp>
      <p:sp>
        <p:nvSpPr>
          <p:cNvPr id="7" name="Arrow 1"/>
          <p:cNvSpPr/>
          <p:nvPr/>
        </p:nvSpPr>
        <p:spPr>
          <a:xfrm>
            <a:off x="3886200" y="2331720"/>
            <a:ext cx="457200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ost box Rotational latency"/>
          <p:cNvSpPr/>
          <p:nvPr/>
        </p:nvSpPr>
        <p:spPr>
          <a:xfrm>
            <a:off x="4480560" y="1645920"/>
            <a:ext cx="3200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09160" y="18745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Rotational latency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5146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Wait for the sector to spin under the head</a:t>
            </a:r>
            <a:endParaRPr lang="en-US" sz="1600" dirty="0"/>
          </a:p>
        </p:txBody>
      </p:sp>
      <p:sp>
        <p:nvSpPr>
          <p:cNvPr id="11" name="Arrow 2"/>
          <p:cNvSpPr/>
          <p:nvPr/>
        </p:nvSpPr>
        <p:spPr>
          <a:xfrm>
            <a:off x="7818120" y="2331720"/>
            <a:ext cx="457200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ost box Transfer"/>
          <p:cNvSpPr/>
          <p:nvPr/>
        </p:nvSpPr>
        <p:spPr>
          <a:xfrm>
            <a:off x="8412480" y="1645920"/>
            <a:ext cx="32004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18745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Transfer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251460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Read or write the data</a:t>
            </a:r>
            <a:endParaRPr lang="en-US" sz="1600" dirty="0"/>
          </a:p>
        </p:txBody>
      </p:sp>
      <p:sp>
        <p:nvSpPr>
          <p:cNvPr id="15" name="Formula card"/>
          <p:cNvSpPr/>
          <p:nvPr/>
        </p:nvSpPr>
        <p:spPr>
          <a:xfrm>
            <a:off x="548640" y="37490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749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 time = seek + rotational latency + transfer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Seek is the part the OS can shape by choosing request order.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Goal: minimize total head movement without starving any request.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Classic algorithms and their limits</a:t>
            </a:r>
            <a:endParaRPr lang="en-US" sz="3400" dirty="0"/>
          </a:p>
        </p:txBody>
      </p:sp>
      <p:graphicFrame>
        <p:nvGraphicFramePr>
          <p:cNvPr id="5" name="Algorithm table"/>
          <p:cNvGraphicFramePr>
            <a:graphicFrameLocks noGrp="1"/>
          </p:cNvGraphicFramePr>
          <p:nvPr/>
        </p:nvGraphicFramePr>
        <p:xfrm>
          <a:off x="548640" y="1463040"/>
          <a:ext cx="11064240" cy="4096512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2926080"/>
                <a:gridCol w="3017520"/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Weakness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FCFS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Serve in arrival order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Fair and simple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Long zig-zag head travel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SSTF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Always the nearest cylinder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Low average seek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Starves far requests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SCAN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Sweep to disk end, then reverse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Bounded wait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Travels to the ends needlessly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C-SCAN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Sweep one way, jump back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Uniform wait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Wasted return jump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LOOK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SCAN, reverse at last request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Less travel than SCAN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Ignores request age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B2B"/>
                          </a:solidFill>
                        </a:rPr>
                        <a:t>C-LOOK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C-SCAN, jump to lowest request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Uniform, less travel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B2B"/>
                          </a:solidFill>
                        </a:rPr>
                        <a:t>Return jump still costly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Worked example: total head movement</a:t>
            </a:r>
            <a:endParaRPr lang="en-US" sz="3400" dirty="0"/>
          </a:p>
        </p:txBody>
      </p:sp>
      <p:sp>
        <p:nvSpPr>
          <p:cNvPr id="4" name="Setup card"/>
          <p:cNvSpPr/>
          <p:nvPr/>
        </p:nvSpPr>
        <p:spPr>
          <a:xfrm>
            <a:off x="548640" y="1463040"/>
            <a:ext cx="429768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91640"/>
            <a:ext cx="374904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Setup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Head at cylinder 53, range 0 to 199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Queue: 98, 183, 37, 122, 14, 124, 65, 67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66344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208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475488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cylinders with LOOK, the best classic policy here; FCFS needs 640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SCAN and LOOK sweep toward 0 first; C-SCAN and C-LOOK sweep upward, and C-SCAN counts the return jump.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212080" y="1371600"/>
          <a:ext cx="64008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we need a smarter policy</a:t>
            </a:r>
            <a:endParaRPr lang="en-US" sz="3400" dirty="0"/>
          </a:p>
        </p:txBody>
      </p:sp>
      <p:sp>
        <p:nvSpPr>
          <p:cNvPr id="4" name="Gap card 1"/>
          <p:cNvSpPr/>
          <p:nvPr/>
        </p:nvSpPr>
        <p:spPr>
          <a:xfrm>
            <a:off x="54864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SSTF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231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Great seek efficiency, but far-away requests can wait indefinitely.</a:t>
            </a:r>
            <a:endParaRPr lang="en-US" sz="1800" dirty="0"/>
          </a:p>
        </p:txBody>
      </p:sp>
      <p:sp>
        <p:nvSpPr>
          <p:cNvPr id="7" name="Gap card 2"/>
          <p:cNvSpPr/>
          <p:nvPr/>
        </p:nvSpPr>
        <p:spPr>
          <a:xfrm>
            <a:off x="434340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FCFS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4231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Perfectly fair, but the head zig-zags across the disk.</a:t>
            </a:r>
            <a:endParaRPr lang="en-US" sz="1800" dirty="0"/>
          </a:p>
        </p:txBody>
      </p:sp>
      <p:sp>
        <p:nvSpPr>
          <p:cNvPr id="10" name="Gap card 3"/>
          <p:cNvSpPr/>
          <p:nvPr/>
        </p:nvSpPr>
        <p:spPr>
          <a:xfrm>
            <a:off x="8138160" y="1554480"/>
            <a:ext cx="3474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7830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SCAN / LOOK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42316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Bounded wait, but blind to how long each request has actually waited.</a:t>
            </a:r>
            <a:endParaRPr lang="en-US" sz="1800" dirty="0"/>
          </a:p>
        </p:txBody>
      </p:sp>
      <p:sp>
        <p:nvSpPr>
          <p:cNvPr id="13" name="Smart banner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29768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scheduler: one cost function that weighs distance, waiting time and sweep direction, and adapts to load.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4" name="Stage Request queue"/>
          <p:cNvSpPr/>
          <p:nvPr/>
        </p:nvSpPr>
        <p:spPr>
          <a:xfrm>
            <a:off x="548640" y="173736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73736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Request queue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Pending cylinders with arrival times</a:t>
            </a:r>
            <a:endParaRPr lang="en-US" sz="1400" dirty="0"/>
          </a:p>
        </p:txBody>
      </p:sp>
      <p:sp>
        <p:nvSpPr>
          <p:cNvPr id="7" name="Flow arrow 1"/>
          <p:cNvSpPr/>
          <p:nvPr/>
        </p:nvSpPr>
        <p:spPr>
          <a:xfrm>
            <a:off x="2514600" y="214884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age Cost estimator"/>
          <p:cNvSpPr/>
          <p:nvPr/>
        </p:nvSpPr>
        <p:spPr>
          <a:xfrm>
            <a:off x="2834640" y="173736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73736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Cost estimator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0175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Scores each request: distance, age, direction</a:t>
            </a:r>
            <a:endParaRPr lang="en-US" sz="1400" dirty="0"/>
          </a:p>
        </p:txBody>
      </p:sp>
      <p:sp>
        <p:nvSpPr>
          <p:cNvPr id="11" name="Flow arrow 2"/>
          <p:cNvSpPr/>
          <p:nvPr/>
        </p:nvSpPr>
        <p:spPr>
          <a:xfrm>
            <a:off x="4800600" y="214884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Stage Selector"/>
          <p:cNvSpPr/>
          <p:nvPr/>
        </p:nvSpPr>
        <p:spPr>
          <a:xfrm>
            <a:off x="5120640" y="173736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12080" y="173736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Selector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120640" y="30175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Picks the lowest score</a:t>
            </a:r>
            <a:endParaRPr lang="en-US" sz="1400" dirty="0"/>
          </a:p>
        </p:txBody>
      </p:sp>
      <p:sp>
        <p:nvSpPr>
          <p:cNvPr id="15" name="Flow arrow 3"/>
          <p:cNvSpPr/>
          <p:nvPr/>
        </p:nvSpPr>
        <p:spPr>
          <a:xfrm>
            <a:off x="7086600" y="214884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tage Dispatcher"/>
          <p:cNvSpPr/>
          <p:nvPr/>
        </p:nvSpPr>
        <p:spPr>
          <a:xfrm>
            <a:off x="7406640" y="173736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0" y="173736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Dispatcher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0175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Issues the I/O, updates head and direction</a:t>
            </a:r>
            <a:endParaRPr lang="en-US" sz="1400" dirty="0"/>
          </a:p>
        </p:txBody>
      </p:sp>
      <p:sp>
        <p:nvSpPr>
          <p:cNvPr id="19" name="Flow arrow 4"/>
          <p:cNvSpPr/>
          <p:nvPr/>
        </p:nvSpPr>
        <p:spPr>
          <a:xfrm>
            <a:off x="9372600" y="2148840"/>
            <a:ext cx="27432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Stage Disk head"/>
          <p:cNvSpPr/>
          <p:nvPr/>
        </p:nvSpPr>
        <p:spPr>
          <a:xfrm>
            <a:off x="9692640" y="1737360"/>
            <a:ext cx="1920240" cy="109728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84080" y="173736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Disk head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0" y="301752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Seeks, then reads or writes</a:t>
            </a:r>
            <a:endParaRPr lang="en-US" sz="1400" dirty="0"/>
          </a:p>
        </p:txBody>
      </p:sp>
      <p:sp>
        <p:nvSpPr>
          <p:cNvPr id="23" name="Load monitor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</a:rPr>
              <a:t>Load monitor  </a:t>
            </a:r>
            <a:r>
              <a:rPr lang="en-US" sz="2000" dirty="0">
                <a:solidFill>
                  <a:schemeClr val="tx1"/>
                </a:solidFill>
              </a:rPr>
              <a:t>watches queue length and tunes aging α and the deadline D at run time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Selection policy: one score per request</a:t>
            </a:r>
            <a:endParaRPr lang="en-US" sz="34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554480"/>
            <a:ext cx="475488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828800"/>
            <a:ext cx="40233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score(r) =</a:t>
            </a:r>
            <a:endParaRPr lang="en-US" sz="3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0E9AA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distance(r)</a:t>
            </a:r>
            <a:endParaRPr lang="en-US" sz="3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5A52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− α × wait(r)</a:t>
            </a:r>
            <a:endParaRPr lang="en-US" sz="3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28B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 β × turn(r)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0292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Lowest score is served next.</a:t>
            </a:r>
            <a:endParaRPr lang="en-US" sz="1800" dirty="0"/>
          </a:p>
        </p:txBody>
      </p:sp>
      <p:sp>
        <p:nvSpPr>
          <p:cNvPr id="7" name="Number badge 1"/>
          <p:cNvSpPr/>
          <p:nvPr/>
        </p:nvSpPr>
        <p:spPr>
          <a:xfrm>
            <a:off x="5760720" y="169164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55448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Distance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Favors nearby requests, the SSTF behavior.</a:t>
            </a:r>
            <a:endParaRPr lang="en-US" sz="2000" dirty="0"/>
          </a:p>
        </p:txBody>
      </p:sp>
      <p:sp>
        <p:nvSpPr>
          <p:cNvPr id="10" name="Number badge 2"/>
          <p:cNvSpPr/>
          <p:nvPr/>
        </p:nvSpPr>
        <p:spPr>
          <a:xfrm>
            <a:off x="5760720" y="2834640"/>
            <a:ext cx="640080" cy="64008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834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269748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Aging α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Waiting raises a request's appeal, preventing starvation.</a:t>
            </a:r>
            <a:endParaRPr lang="en-US" sz="2000" dirty="0"/>
          </a:p>
        </p:txBody>
      </p:sp>
      <p:sp>
        <p:nvSpPr>
          <p:cNvPr id="13" name="Number badge 3"/>
          <p:cNvSpPr/>
          <p:nvPr/>
        </p:nvSpPr>
        <p:spPr>
          <a:xfrm>
            <a:off x="5760720" y="397764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3977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84048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Turn penalty β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Keeps the head sweeping; fewer reversals, the LOOK behavior.</a:t>
            </a:r>
            <a:endParaRPr lang="en-US" sz="2000" dirty="0"/>
          </a:p>
        </p:txBody>
      </p:sp>
      <p:sp>
        <p:nvSpPr>
          <p:cNvPr id="16" name="Number badge 4"/>
          <p:cNvSpPr/>
          <p:nvPr/>
        </p:nvSpPr>
        <p:spPr>
          <a:xfrm>
            <a:off x="5760720" y="5120640"/>
            <a:ext cx="640080" cy="64008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5120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498348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Deadline guard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If wait exceeds D, serve the oldest request immediately.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scheduling loop</a:t>
            </a:r>
            <a:endParaRPr lang="en-US" sz="3400" dirty="0"/>
          </a:p>
        </p:txBody>
      </p:sp>
      <p:sp>
        <p:nvSpPr>
          <p:cNvPr id="4" name="Code card"/>
          <p:cNvSpPr/>
          <p:nvPr/>
        </p:nvSpPr>
        <p:spPr>
          <a:xfrm>
            <a:off x="548640" y="1463040"/>
            <a:ext cx="11064240" cy="41148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45920"/>
            <a:ext cx="10332720" cy="3749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while disk_active: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q = pending_requests()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oldest = min(q, key=arrival)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now - oldest.arrival &gt; D:        # deadline guard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nxt = oldest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else: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nxt = argmin over r in q of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|r.cyl - head| - alpha * (now - r.arrival)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+ (beta if reverses(r) else 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dispatch(nxt); head = nxt.cyl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update_direction(nxt); tune(alpha, 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α (aging), β (turn penalty) and D (deadline) are tuned from the observed queue length.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Simulation: SSTF-level seek with a bounded tail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26480" y="137160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tat band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9AA7"/>
                </a:solidFill>
              </a:rPr>
              <a:t>−44% </a:t>
            </a:r>
            <a:r>
              <a:rPr lang="en-US" sz="2200" dirty="0">
                <a:solidFill>
                  <a:schemeClr val="tx1"/>
                </a:solidFill>
              </a:rPr>
              <a:t>seek vs FCFS      </a:t>
            </a:r>
            <a:r>
              <a:rPr lang="en-US" sz="2200" b="1" dirty="0">
                <a:solidFill>
                  <a:srgbClr val="0E9AA7"/>
                </a:solidFill>
              </a:rPr>
              <a:t>−43% </a:t>
            </a:r>
            <a:r>
              <a:rPr lang="en-US" sz="2200" dirty="0">
                <a:solidFill>
                  <a:schemeClr val="tx1"/>
                </a:solidFill>
              </a:rPr>
              <a:t>worst-case wait vs SSTF</a:t>
            </a:r>
            <a:endParaRPr lang="en-US" sz="22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My simulation: 2,000 cylinders, 3,000 requests, 60% hotspot locality, 5 runs averaged; α=3, β=60, D=300. FCFS queue overflowed, so it is omitted from the wait chart.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 and evaluation plan</a:t>
            </a:r>
            <a:endParaRPr lang="en-US" sz="3400" dirty="0"/>
          </a:p>
        </p:txBody>
      </p:sp>
      <p:sp>
        <p:nvSpPr>
          <p:cNvPr id="4" name="Structure card 1"/>
          <p:cNvSpPr/>
          <p:nvPr/>
        </p:nvSpPr>
        <p:spPr>
          <a:xfrm>
            <a:off x="548640" y="1463040"/>
            <a:ext cx="5760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72768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</a:rPr>
              <a:t>Sorted by cylinder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Balanced tree or skip list finds the nearest requests on each side in O(log n).</a:t>
            </a:r>
            <a:endParaRPr lang="en-US" sz="2000" dirty="0"/>
          </a:p>
        </p:txBody>
      </p:sp>
      <p:sp>
        <p:nvSpPr>
          <p:cNvPr id="6" name="Structure card 2"/>
          <p:cNvSpPr/>
          <p:nvPr/>
        </p:nvSpPr>
        <p:spPr>
          <a:xfrm>
            <a:off x="548640" y="3017520"/>
            <a:ext cx="5760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127248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</a:rPr>
              <a:t>Min-heap by arrival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Oldest request in O(1) for the deadline guard.</a:t>
            </a:r>
            <a:endParaRPr lang="en-US" sz="2000" dirty="0"/>
          </a:p>
        </p:txBody>
      </p:sp>
      <p:sp>
        <p:nvSpPr>
          <p:cNvPr id="8" name="Structure card 3"/>
          <p:cNvSpPr/>
          <p:nvPr/>
        </p:nvSpPr>
        <p:spPr>
          <a:xfrm>
            <a:off x="548640" y="4572000"/>
            <a:ext cx="5760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681728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</a:rPr>
              <a:t>Candidate window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Score only the k nearest each side plus the oldest: O(log n + k) instead of O(n).</a:t>
            </a:r>
            <a:endParaRPr lang="en-US" sz="2000" dirty="0"/>
          </a:p>
        </p:txBody>
      </p:sp>
      <p:sp>
        <p:nvSpPr>
          <p:cNvPr id="10" name="Evaluation card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plan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286000"/>
            <a:ext cx="457200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Metrics: average seek, throughput, mean and worst-case wait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Workloads: random, sequential, hotspot, bursty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Baselines: FCFS, SSTF, SCAN, LOOK, C-LOOK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Scope: rotating disks; on SSDs seek cost vanishes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Takeaway badge 1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Seek time dominates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rgbClr val="EEF3F7"/>
                </a:solidFill>
              </a:rPr>
              <a:t>Request order is the lever the OS controls.</a:t>
            </a:r>
            <a:endParaRPr lang="en-US" sz="2400" dirty="0"/>
          </a:p>
        </p:txBody>
      </p:sp>
      <p:sp>
        <p:nvSpPr>
          <p:cNvPr id="7" name="Takeaway badge 2"/>
          <p:cNvSpPr/>
          <p:nvPr/>
        </p:nvSpPr>
        <p:spPr>
          <a:xfrm>
            <a:off x="548640" y="2880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788920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score beats one rule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rgbClr val="EEF3F7"/>
                </a:solidFill>
              </a:rPr>
              <a:t>Distance, age and direction combine SSTF efficiency, LOOK sweeps and bounded waits.</a:t>
            </a:r>
            <a:endParaRPr lang="en-US" sz="2400" dirty="0"/>
          </a:p>
        </p:txBody>
      </p:sp>
      <p:sp>
        <p:nvSpPr>
          <p:cNvPr id="10" name="Takeaway badge 3"/>
          <p:cNvSpPr/>
          <p:nvPr/>
        </p:nvSpPr>
        <p:spPr>
          <a:xfrm>
            <a:off x="548640" y="41148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114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023360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Tunable by design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solidFill>
                  <a:srgbClr val="EEF3F7"/>
                </a:solidFill>
              </a:rPr>
              <a:t>α, β and D let the scheduler adapt to the workload.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Future work: rotational-position awareness, per-process priorities, SSD and NVMe policies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Disk">
  <a:themeElements>
    <a:clrScheme name="SmartDisk">
      <a:dk1>
        <a:srgbClr val="0B1B2B"/>
      </a:dk1>
      <a:lt1>
        <a:srgbClr val="FFFFFF"/>
      </a:lt1>
      <a:dk2>
        <a:srgbClr val="12344D"/>
      </a:dk2>
      <a:lt2>
        <a:srgbClr val="EEF3F7"/>
      </a:lt2>
      <a:accent1>
        <a:srgbClr val="0E9AA7"/>
      </a:accent1>
      <a:accent2>
        <a:srgbClr val="F5A524"/>
      </a:accent2>
      <a:accent3>
        <a:srgbClr val="E4572E"/>
      </a:accent3>
      <a:accent4>
        <a:srgbClr val="3D5A80"/>
      </a:accent4>
      <a:accent5>
        <a:srgbClr val="7FB069"/>
      </a:accent5>
      <a:accent6>
        <a:srgbClr val="98A6B5"/>
      </a:accent6>
      <a:hlink>
        <a:srgbClr val="0E9AA7"/>
      </a:hlink>
      <a:folHlink>
        <a:srgbClr val="98A6B5"/>
      </a:folHlink>
    </a:clrScheme>
    <a:fontScheme name="SmartD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martDisk">
  <a:themeElements>
    <a:clrScheme name="SmartDisk">
      <a:dk1>
        <a:srgbClr val="0B1B2B"/>
      </a:dk1>
      <a:lt1>
        <a:srgbClr val="FFFFFF"/>
      </a:lt1>
      <a:dk2>
        <a:srgbClr val="12344D"/>
      </a:dk2>
      <a:lt2>
        <a:srgbClr val="EEF3F7"/>
      </a:lt2>
      <a:accent1>
        <a:srgbClr val="0E9AA7"/>
      </a:accent1>
      <a:accent2>
        <a:srgbClr val="F5A524"/>
      </a:accent2>
      <a:accent3>
        <a:srgbClr val="E4572E"/>
      </a:accent3>
      <a:accent4>
        <a:srgbClr val="3D5A80"/>
      </a:accent4>
      <a:accent5>
        <a:srgbClr val="7FB069"/>
      </a:accent5>
      <a:accent6>
        <a:srgbClr val="98A6B5"/>
      </a:accent6>
      <a:hlink>
        <a:srgbClr val="0E9AA7"/>
      </a:hlink>
      <a:folHlink>
        <a:srgbClr val="98A6B5"/>
      </a:folHlink>
    </a:clrScheme>
    <a:fontScheme name="SmartD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4192</Words>
  <Application>WPS Presentation</Application>
  <PresentationFormat>On-screen Show (16:9)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Cambria</vt:lpstr>
      <vt:lpstr>Cambria</vt:lpstr>
      <vt:lpstr>Courier New</vt:lpstr>
      <vt:lpstr>Courier New</vt:lpstr>
      <vt:lpstr>Courier New</vt:lpstr>
      <vt:lpstr>Calibri</vt:lpstr>
      <vt:lpstr>Microsoft YaHei</vt:lpstr>
      <vt:lpstr>Arial Unicode MS</vt:lpstr>
      <vt:lpstr>SmartDisk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Disk Scheduler</dc:title>
  <dc:creator>PptxGenJS</dc:creator>
  <dc:subject>PptxGenJS Presentation</dc:subject>
  <cp:lastModifiedBy>Akhila Reddy</cp:lastModifiedBy>
  <cp:revision>3</cp:revision>
  <dcterms:created xsi:type="dcterms:W3CDTF">2026-10-17T04:44:00Z</dcterms:created>
  <dcterms:modified xsi:type="dcterms:W3CDTF">2026-10-17T04:50:25Z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DACD0C86DED94FA7B16477091A0719D5_13</vt:lpwstr>
  </property>
  <property fmtid="{D5CDD505-2E9C-101B-9397-08002B2CF9AE}" pid="3" name="KSOProductBuildVer">
    <vt:lpwstr>1033-12.1.0.29162</vt:lpwstr>
  </property>
</Properties>
</file>